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3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6656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Hospital Readmission Prediction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Using Machine Learning and Deep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3504" y="1993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5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Capstone Presentation  •  Diabetes 130-US Hospitals dataset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504" y="23042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data wrangling and EDA to model comparison, deep learning, and operational recommendations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0" y="1051560"/>
            <a:ext cx="19202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nb_eda_imgs/cell24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177355"/>
            <a:ext cx="1773936" cy="11657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26880" y="1051560"/>
            <a:ext cx="23317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/mnt/data/nb_eda_imgs/cell40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385" y="1124712"/>
            <a:ext cx="1812711" cy="1271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0" y="2743200"/>
            <a:ext cx="19202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/mnt/data/nb_model_imgs/cell21_ou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4027" y="2816352"/>
            <a:ext cx="1602585" cy="127101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26880" y="2743200"/>
            <a:ext cx="23317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/mnt/data/nb_model_imgs/cell27_out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2" y="3025889"/>
            <a:ext cx="2185416" cy="85194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85800" y="49834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85800" y="50383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101,766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85800" y="530352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encounters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2240280" y="49834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2240280" y="503834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~11%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2240280" y="5303520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readmission rate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703320" y="49834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3703320" y="503834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703320" y="5303520"/>
            <a:ext cx="1325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166360" y="498348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166360" y="50383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0.677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166360" y="5303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ROC-AUC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7315200" y="48920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479792" y="4965192"/>
            <a:ext cx="40233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result: Gradient Boosting ranks risk best, but Logistic Regression captures far more true readmissions at the default threshold.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Business problem and project objective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859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problem matters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2120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30-day readmissions increase cost and can signal incomplete recovery, poor discharge planning, or inadequate follow-up.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need a risk model that helps prioritize patients for transitional care and closer monitoring.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useful solution must balance statistical performance with the practical goal of identifying high-risk patients.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34943" y="1261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5664" y="1737359"/>
            <a:ext cx="5212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readmission within 30 days using structured encounter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linear, ensemble, and deep learning approaches under severe class imbalance.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2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 model behavior into operational recommendations for care-management teams.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Data, preprocessing, and workflow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7" y="1325880"/>
            <a:ext cx="679668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from raw encounters to final model comparison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Wrangling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96112" y="24414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? to nulls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IDs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binary target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11880" y="20116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4904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76472" y="24414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56832" y="24414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where needed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72600" y="20116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0976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37192" y="2441448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• RF • GB • NN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metrics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final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808" y="3931920"/>
            <a:ext cx="352044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/mnt/data/nb_eda_imgs/cell15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2803"/>
            <a:ext cx="3374136" cy="16584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2960" y="5815584"/>
            <a:ext cx="337413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structure from the EDA notebook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34840" y="3931920"/>
            <a:ext cx="379476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1" descr="/mnt/data/nb_eda_imgs/cell2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72" y="4005072"/>
            <a:ext cx="3132695" cy="17739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07992" y="5815584"/>
            <a:ext cx="364845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utilization distributions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8412480" y="3931920"/>
            <a:ext cx="315468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2" descr="/mnt/data/nb_eda_imgs/cell40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835" y="4005072"/>
            <a:ext cx="2529971" cy="17739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85632" y="5815584"/>
            <a:ext cx="300837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structure for selected numerical features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aligns with final report and notebooks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EDA - class imbalance and why metrics matter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75488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mnt/data/nb_eda_imgs/cell24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14754"/>
            <a:ext cx="4608576" cy="3028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5404104"/>
            <a:ext cx="460857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 Class distribution for 30-day readmission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06439" y="1344169"/>
            <a:ext cx="3176195" cy="347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interpretation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06440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about 11% of encounters belong to the positive class, so a majority-class model can appear strong on accuracy while still failing clinically.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figure explains why recall, F1 score, ROC-AUC, and precision–recall behavior are more informative than raw accuracy alone.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imbalance directly drives the later tradeoff: ensemble models achieve high accuracy but miss most true readmissions at the default threshold.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89320" y="4736592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89320" y="47914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90,409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89320" y="505663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non-readmitted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26680" y="4736592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26680" y="47914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11,357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26680" y="5056632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readmitted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281160" y="4736592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281160" y="4791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~11.2%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281160" y="5056632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class rate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79008" y="548640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943600" y="5559552"/>
            <a:ext cx="5212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implication: the best model is not the one with the highest accuracy; it is the one whose behavior matches the hospital’s tolerance for missed high-risk patients.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- missingness and feature behavior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9319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5" name="Image 0" descr="/mnt/data/nb_eda_imgs/cell15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15657"/>
            <a:ext cx="3785616" cy="18607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38144"/>
            <a:ext cx="37856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2. Top columns with missing-value markers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58368" y="3794760"/>
            <a:ext cx="39319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8" name="Image 1" descr="/mnt/data/nb_eda_imgs/cell2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71" y="3867912"/>
            <a:ext cx="3374914" cy="1911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815584"/>
            <a:ext cx="37856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3. Distributions of core utilization features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892039" y="1417320"/>
            <a:ext cx="373559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Why these figures matter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892040" y="1828800"/>
            <a:ext cx="66294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</a:rPr>
              <a:t>Weight, medical specialty, and payer code contain substantial missingness, which justifies a structured preprocessing pipeline rather than ad hoc cleaning.</a:t>
            </a:r>
            <a:endParaRPr lang="en-US" sz="1500" dirty="0"/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</a:rPr>
              <a:t>Healthcare utilization variables are heavily right-skewed: most patients cluster at low values, while a smaller subset shows very high use.</a:t>
            </a:r>
            <a:endParaRPr lang="en-US" sz="1500" dirty="0"/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</a:rPr>
              <a:t>Those extreme values are clinically meaningful rather than obvious noise - they likely proxy for disease burden, acuity, or unstable care trajectories.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892040" y="4160520"/>
            <a:ext cx="3063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13" name="Image 2" descr="/mnt/data/nb_eda_imgs/cell43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4606573"/>
            <a:ext cx="2916936" cy="7538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5192" y="5769864"/>
            <a:ext cx="291693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7. Outlier review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092440" y="4160520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16" name="Image 3" descr="/mnt/data/nb_eda_imgs/cell34_ou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352544"/>
            <a:ext cx="3236976" cy="1261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65592" y="5769864"/>
            <a:ext cx="323697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5. Readmission rate by age group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EDA - why nonlinear models are plausible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mnt/data/nb_eda_imgs/cell31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3084"/>
            <a:ext cx="5431536" cy="14036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68496"/>
            <a:ext cx="543153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4. Utilization features versus readmission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58368" y="44348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mnt/data/nb_eda_imgs/cell40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73" y="4507992"/>
            <a:ext cx="1812711" cy="1271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815584"/>
            <a:ext cx="35570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6. Correlation heatmap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58491" y="1371600"/>
            <a:ext cx="356884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interpretation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46520" y="1874520"/>
            <a:ext cx="50749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Readmitted encounters tend to show higher inpatient and emergency use, as well as longer hospital stays, which is clinically consistent with unstable or unresolved illness.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structure is modest rather than dominated by a single linear driver. That suggests the signal is distributed across variables and may emerge through interactions.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figures motivate comparing linear and nonlinear models rather than assuming a simple linear decision boundary is sufficient.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46520" y="525780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611112" y="533095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supports a two-part story: utilization history is informative, and nonlinear interactions are likely important for ranking risk.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Modeling strategy and test-set comparison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28271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42976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- interpretable baseline with strong minority-class sensitivity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 nonlinear ensemble baseline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- strongest overall ranking model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- deep learning extension from the proposal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7" y="3520440"/>
            <a:ext cx="29562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 metrics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041648"/>
            <a:ext cx="1700784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" y="4114800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59152" y="4041648"/>
            <a:ext cx="914400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77440" y="411480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73552" y="4041648"/>
            <a:ext cx="914400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87952" y="4041648"/>
            <a:ext cx="822960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0" y="411480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10912" y="4041648"/>
            <a:ext cx="640080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0" y="411480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50992" y="4041648"/>
            <a:ext cx="914400" cy="301752"/>
          </a:xfrm>
          <a:prstGeom prst="rect">
            <a:avLst/>
          </a:prstGeom>
          <a:solidFill>
            <a:srgbClr val="EAF2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0" y="411480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" y="4343400"/>
            <a:ext cx="17007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" y="4416552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59152" y="434340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77440" y="441655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0.6358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73552" y="434340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91840" y="441655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0.1656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87952" y="4343400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06240" y="441655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0.5605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10912" y="4343400"/>
            <a:ext cx="640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0" y="4416552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0.2556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50992" y="434340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0" y="441655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0.6373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8368" y="4645152"/>
            <a:ext cx="17007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6656" y="4718304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59152" y="464515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377440" y="471830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0.8885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73552" y="464515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91840" y="471830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0.5625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187952" y="4645152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06240" y="4718304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0.0040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10912" y="4645152"/>
            <a:ext cx="640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29200" y="4718304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0.0079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50992" y="464515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0" y="471830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0.6674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8368" y="4946904"/>
            <a:ext cx="17007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" y="5020056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359152" y="494690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77440" y="50200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0.8886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73552" y="494690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291840" y="50200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0.5625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187952" y="4946904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206240" y="502005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0.0079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010912" y="4946904"/>
            <a:ext cx="640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029200" y="502005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0.0156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650992" y="4946904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69280" y="5020056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0.6775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58368" y="5248656"/>
            <a:ext cx="17007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76656" y="5321808"/>
            <a:ext cx="1664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359152" y="524865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77440" y="532180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0.8884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273552" y="524865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291840" y="532180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0.3333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187952" y="524865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206240" y="532180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0.0004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010912" y="5248656"/>
            <a:ext cx="640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029200" y="5321808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0.0009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650992" y="524865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669280" y="532180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0.6246</a:t>
            </a:r>
            <a:endParaRPr lang="en-US" sz="8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537960" y="1207008"/>
            <a:ext cx="28271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table says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537960" y="1828800"/>
            <a:ext cx="48920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detects far more true readmissions than the other models, which is why it dominates on recall.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produces the highest ROC-AUC, meaning it ranks patients by risk better across thresholds.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ensemble models achieve strong overall accuracy largely because they favor the majority class.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Neural Network adds methodological breadth but does not improve minority-class behavior.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629400" y="495604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EAF6EC"/>
          </a:solidFill>
          <a:ln w="12700">
            <a:solidFill>
              <a:srgbClr val="EAF6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629400" y="50109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94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0.5605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629400" y="527608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recall (LogReg)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823960" y="4956048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823960" y="50109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0.6775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823960" y="5276088"/>
            <a:ext cx="2057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ROC-AUC (GB)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 behavior - Logistic Regression vs Random Forest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27432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mnt/data/nb_model_imgs/cell15_ou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11" y="1517904"/>
            <a:ext cx="2006114" cy="1591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45536"/>
            <a:ext cx="25968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8. ROC — Logistic Regression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58368" y="3584448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mnt/data/nb_model_imgs/cell15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44" y="3657600"/>
            <a:ext cx="2223847" cy="17739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468112"/>
            <a:ext cx="25968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9. Confusion matrix — Logistic Regression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611880" y="1444752"/>
            <a:ext cx="27432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/mnt/data/nb_model_imgs/cell18_ou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423" y="1517904"/>
            <a:ext cx="2006114" cy="1591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85032" y="3145536"/>
            <a:ext cx="25968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10. ROC — Random Forest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11880" y="3584448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/mnt/data/nb_model_imgs/cell18_ou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556" y="3657600"/>
            <a:ext cx="2223847" cy="17739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85032" y="5468112"/>
            <a:ext cx="259689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11. Confusion matrix — Random Forest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629400" y="14447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629400" y="1828800"/>
            <a:ext cx="46634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recall-friendly: it predicts many more positives, so it captures true readmissions at the cost of many false positives.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improves ROC-AUC relative to Logistic Regression, but its confusion matrix shows that it rarely predicts the minority class at threshold 0.5.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makes the core tradeoff visible: sensitivity versus conservative majority-class prediction.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629400" y="5102352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8F1E8"/>
          </a:solidFill>
          <a:ln w="12700">
            <a:solidFill>
              <a:srgbClr val="F8F1E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793992" y="5175504"/>
            <a:ext cx="42976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LogReg is the better model when the operational goal is maximum case capture without threshold tuning.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model - Gradient Boosting diagnostics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4747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5" name="Image 0" descr="/mnt/data/nb_model_imgs/cell21_ou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01" y="1554480"/>
            <a:ext cx="2179055" cy="1728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19272"/>
            <a:ext cx="33284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12. ROC curve — Gradient Boosting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315968" y="1481328"/>
            <a:ext cx="34747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8" name="Image 1" descr="/mnt/data/nb_model_imgs/cell21_ou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01" y="1554480"/>
            <a:ext cx="2179055" cy="1728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3319272"/>
            <a:ext cx="33284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13. Precision–Recall curve — Gradient Boosting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973568" y="1481328"/>
            <a:ext cx="34747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11" name="Image 2" descr="/mnt/data/nb_model_imgs/cell21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662" y="1554480"/>
            <a:ext cx="2166532" cy="1728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3319272"/>
            <a:ext cx="33284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14. Confusion matrix — Gradient Boosting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713231" y="3858767"/>
            <a:ext cx="4250569" cy="219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Why this is still the final model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49808" y="4187952"/>
            <a:ext cx="64922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Gradient Boosting produces the strongest overall ranking performance.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Its ROC curve sits consistently above the baseline, showing useful discriminatory structure.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The PR curve confirms the expected tradeoff under imbalance: higher recall requires lower precision.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The confusion matrix reveals the limitation directly - the default threshold is too conservative for practical minority-class capture.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406640" y="431596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sp>
        <p:nvSpPr>
          <p:cNvPr id="16" name="Text 11"/>
          <p:cNvSpPr/>
          <p:nvPr/>
        </p:nvSpPr>
        <p:spPr>
          <a:xfrm>
            <a:off x="7571232" y="4389120"/>
            <a:ext cx="3886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Takeaway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3313F"/>
                </a:solidFill>
              </a:rPr>
              <a:t>Best ranking ≠ best detection. Gradient Boosting is the strongest risk-ordering model, but it needs threshold tuning before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0"/>
            <a:ext cx="818925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extension - what the Neural Network adds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29260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5" name="Image 0" descr="/mnt/data/nb_model_imgs/cell25_ou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51" y="1517904"/>
            <a:ext cx="2006114" cy="1591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45536"/>
            <a:ext cx="277977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15. ROC — Neural Network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58368" y="3611880"/>
            <a:ext cx="292608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8" name="Image 1" descr="/mnt/data/nb_model_imgs/cell25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58" y="3685032"/>
            <a:ext cx="2051900" cy="1636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358384"/>
            <a:ext cx="277977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16. Confusion matrix — Neural Network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858768" y="1444752"/>
            <a:ext cx="3474720" cy="41605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7780" dist="762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NP"/>
          </a:p>
        </p:txBody>
      </p:sp>
      <p:pic>
        <p:nvPicPr>
          <p:cNvPr id="11" name="Image 2" descr="/mnt/data/nb_model_imgs/cell27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84813"/>
            <a:ext cx="3328416" cy="1297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1920" y="5385816"/>
            <a:ext cx="332841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670"/>
                </a:solidFill>
              </a:rPr>
              <a:t>Figure 17. Training and validation history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7635240" y="1344169"/>
            <a:ext cx="2926080" cy="338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Deep learning metrics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726680" y="1828800"/>
            <a:ext cx="13258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5" name="Shape 10"/>
          <p:cNvSpPr/>
          <p:nvPr/>
        </p:nvSpPr>
        <p:spPr>
          <a:xfrm>
            <a:off x="9052560" y="182880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6" name="Text 11"/>
          <p:cNvSpPr/>
          <p:nvPr/>
        </p:nvSpPr>
        <p:spPr>
          <a:xfrm>
            <a:off x="7754112" y="19019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Accuracy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9079992" y="1901952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F"/>
                </a:solidFill>
              </a:rPr>
              <a:t>0.8884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726680" y="2112264"/>
            <a:ext cx="13258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9" name="Shape 14"/>
          <p:cNvSpPr/>
          <p:nvPr/>
        </p:nvSpPr>
        <p:spPr>
          <a:xfrm>
            <a:off x="9052560" y="2112264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0" name="Text 15"/>
          <p:cNvSpPr/>
          <p:nvPr/>
        </p:nvSpPr>
        <p:spPr>
          <a:xfrm>
            <a:off x="7754112" y="218541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Precision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079992" y="218541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F"/>
                </a:solidFill>
              </a:rPr>
              <a:t>0.3333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726680" y="2395728"/>
            <a:ext cx="13258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3" name="Shape 18"/>
          <p:cNvSpPr/>
          <p:nvPr/>
        </p:nvSpPr>
        <p:spPr>
          <a:xfrm>
            <a:off x="9052560" y="2395728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4" name="Text 19"/>
          <p:cNvSpPr/>
          <p:nvPr/>
        </p:nvSpPr>
        <p:spPr>
          <a:xfrm>
            <a:off x="7754112" y="246888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Recall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9079992" y="246888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F"/>
                </a:solidFill>
              </a:rPr>
              <a:t>0.0004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26680" y="2679192"/>
            <a:ext cx="13258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7" name="Shape 22"/>
          <p:cNvSpPr/>
          <p:nvPr/>
        </p:nvSpPr>
        <p:spPr>
          <a:xfrm>
            <a:off x="9052560" y="267919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8" name="Text 23"/>
          <p:cNvSpPr/>
          <p:nvPr/>
        </p:nvSpPr>
        <p:spPr>
          <a:xfrm>
            <a:off x="7754112" y="275234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F1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9079992" y="275234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F"/>
                </a:solidFill>
              </a:rPr>
              <a:t>0.0009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726680" y="2962656"/>
            <a:ext cx="13258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31" name="Shape 26"/>
          <p:cNvSpPr/>
          <p:nvPr/>
        </p:nvSpPr>
        <p:spPr>
          <a:xfrm>
            <a:off x="9052560" y="296265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32" name="Text 27"/>
          <p:cNvSpPr/>
          <p:nvPr/>
        </p:nvSpPr>
        <p:spPr>
          <a:xfrm>
            <a:off x="7754112" y="303580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ROC-AUC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9079992" y="3035808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F"/>
                </a:solidFill>
              </a:rPr>
              <a:t>0.6246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7635240" y="3429000"/>
            <a:ext cx="365760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Training converged without major instability, so the issue is not simple optimization failure.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The model still rarely predicts the positive class, showing that added nonlinear capacity alone does not solve the imbalance problem.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</a:rPr>
              <a:t>For this structured tabular dataset, tree-based ensembles remain the stronger practical choice.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Critical insight, recommendations, and next steps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1060704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799" y="1463040"/>
            <a:ext cx="3423621" cy="219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finding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840480" cy="12801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Best ranking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Best detection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ranks risk best. Logistic Regression captures more true readmissions.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83479" y="1290923"/>
            <a:ext cx="2557631" cy="391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Gradient Boosting as a risk-ranking system rather than a direct binary alert.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 the decision threshold before deployment so the model reflects the hospital’s tolerance for false positives versus missed high-risk patients.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future feature engineering on utilization history, diagnosis burden, and structured missingness.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3480" y="4297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83480" y="4617720"/>
            <a:ext cx="6126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calibration and cost-sensitive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 strategies for rare-event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Richer temporal history and follow-up variables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B879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this capstone demonstrates a credible end-to-end workflow with evidence-based model selection.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7454A-6026-3B7B-E6CF-FAC1CF5F5D4C}"/>
              </a:ext>
            </a:extLst>
          </p:cNvPr>
          <p:cNvSpPr txBox="1"/>
          <p:nvPr/>
        </p:nvSpPr>
        <p:spPr>
          <a:xfrm>
            <a:off x="4679576" y="3001384"/>
            <a:ext cx="1254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15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1217</Words>
  <Application>Microsoft Macintosh PowerPoint</Application>
  <PresentationFormat>Widescreen</PresentationFormat>
  <Paragraphs>190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Readmission Prediction Using Machine Learning and Deep Learning</dc:title>
  <dc:subject>Hospital Readmission Capstone</dc:subject>
  <dc:creator>OpenAI</dc:creator>
  <cp:lastModifiedBy>Mahesh</cp:lastModifiedBy>
  <cp:revision>2</cp:revision>
  <dcterms:created xsi:type="dcterms:W3CDTF">2026-04-06T16:44:26Z</dcterms:created>
  <dcterms:modified xsi:type="dcterms:W3CDTF">2026-04-14T06:26:09Z</dcterms:modified>
</cp:coreProperties>
</file>